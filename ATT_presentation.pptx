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8f490eb0c_4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a8f490eb0c_4_75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8f490eb0c_4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a8f490eb0c_4_84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8f490eb0c_4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a8f490eb0c_4_92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8f490eb0c_4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a8f490eb0c_4_100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8f490eb0c_4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a8f490eb0c_4_108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a8f490eb0c_4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a8f490eb0c_4_117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8f490eb0c_4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a8f490eb0c_4_126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8f490eb0c_4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a8f490eb0c_4_134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8f490eb0c_4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a8f490eb0c_4_143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8f490eb0c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a8f490eb0c_2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8f490eb0c_4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a8f490eb0c_4_152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514479" y="1597819"/>
            <a:ext cx="583075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subTitle"/>
          </p:nvPr>
        </p:nvSpPr>
        <p:spPr>
          <a:xfrm>
            <a:off x="1028957" y="2914650"/>
            <a:ext cx="4801801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541870" y="3305175"/>
            <a:ext cx="583075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541870" y="2180035"/>
            <a:ext cx="5830759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42986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3487022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157" name="Google Shape;157;p30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42986" y="1151335"/>
            <a:ext cx="3030899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342986" y="1631156"/>
            <a:ext cx="3030899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4" name="Google Shape;164;p31"/>
          <p:cNvSpPr txBox="1"/>
          <p:nvPr>
            <p:ph idx="3" type="body"/>
          </p:nvPr>
        </p:nvSpPr>
        <p:spPr>
          <a:xfrm>
            <a:off x="3484640" y="1151335"/>
            <a:ext cx="3032090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5" name="Google Shape;165;p31"/>
          <p:cNvSpPr txBox="1"/>
          <p:nvPr>
            <p:ph idx="4" type="body"/>
          </p:nvPr>
        </p:nvSpPr>
        <p:spPr>
          <a:xfrm>
            <a:off x="3484640" y="1631156"/>
            <a:ext cx="3032090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166" name="Google Shape;166;p31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342986" y="204788"/>
            <a:ext cx="2256799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2681958" y="204788"/>
            <a:ext cx="3834772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342986" y="1076325"/>
            <a:ext cx="225679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1344552" y="3600450"/>
            <a:ext cx="411583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1344552" y="459581"/>
            <a:ext cx="411583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1344552" y="4025503"/>
            <a:ext cx="411583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1732622" y="-189486"/>
            <a:ext cx="3394472" cy="61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3550690" y="1628582"/>
            <a:ext cx="4388644" cy="1543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406654" y="142311"/>
            <a:ext cx="4388644" cy="45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1.jpg"/><Relationship Id="rId5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1.jpg"/><Relationship Id="rId5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1.jpg"/><Relationship Id="rId5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1.jp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3.png"/><Relationship Id="rId5" Type="http://schemas.openxmlformats.org/officeDocument/2006/relationships/image" Target="../media/image1.jpg"/><Relationship Id="rId6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5.png"/><Relationship Id="rId5" Type="http://schemas.openxmlformats.org/officeDocument/2006/relationships/image" Target="../media/image2.jpg"/><Relationship Id="rId6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1.jpg"/><Relationship Id="rId5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1.jpg"/><Relationship Id="rId6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6.png"/><Relationship Id="rId5" Type="http://schemas.openxmlformats.org/officeDocument/2006/relationships/image" Target="../media/image1.jpg"/><Relationship Id="rId6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2.jpg"/><Relationship Id="rId5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1.jpg"/><Relationship Id="rId5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ient_bg.jpg" id="204" name="Google Shape;20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7"/>
          <p:cNvSpPr txBox="1"/>
          <p:nvPr/>
        </p:nvSpPr>
        <p:spPr>
          <a:xfrm>
            <a:off x="480180" y="274320"/>
            <a:ext cx="823165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AT&amp;T Spam Detector</a:t>
            </a:r>
            <a:endParaRPr sz="1100"/>
          </a:p>
        </p:txBody>
      </p:sp>
      <p:sp>
        <p:nvSpPr>
          <p:cNvPr id="206" name="Google Shape;206;p37"/>
          <p:cNvSpPr txBox="1"/>
          <p:nvPr/>
        </p:nvSpPr>
        <p:spPr>
          <a:xfrm>
            <a:off x="480180" y="1371600"/>
            <a:ext cx="8231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Projet Deep Learning – Jedha</a:t>
            </a:r>
            <a:endParaRPr b="1" i="1"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LSTM vs DistilBERT sur SMS SPAM</a:t>
            </a:r>
            <a:endParaRPr b="1" i="1" sz="1100"/>
          </a:p>
        </p:txBody>
      </p:sp>
      <p:pic>
        <p:nvPicPr>
          <p:cNvPr descr="AT&amp;T.jfif" id="207" name="Google Shape;20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91" y="4251960"/>
            <a:ext cx="960120" cy="52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.jfif" id="208" name="Google Shape;20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0301" y="105410"/>
            <a:ext cx="891540" cy="89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ient_bg.jpg" id="213" name="Google Shape;21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8"/>
          <p:cNvSpPr txBox="1"/>
          <p:nvPr/>
        </p:nvSpPr>
        <p:spPr>
          <a:xfrm>
            <a:off x="480180" y="274320"/>
            <a:ext cx="823165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Problème Business</a:t>
            </a:r>
            <a:endParaRPr sz="1100"/>
          </a:p>
        </p:txBody>
      </p:sp>
      <p:pic>
        <p:nvPicPr>
          <p:cNvPr descr="AT&amp;T.jfif" id="215" name="Google Shape;21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91" y="4251960"/>
            <a:ext cx="960120" cy="52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.jfif" id="216" name="Google Shape;21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0301" y="105410"/>
            <a:ext cx="891540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8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Explosion des SMS SPAM</a:t>
            </a:r>
            <a:endParaRPr sz="2100">
              <a:solidFill>
                <a:schemeClr val="lt1"/>
              </a:solidFill>
            </a:endParaRPr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Risques pour les clients (phishing, fraude)</a:t>
            </a:r>
            <a:endParaRPr sz="2100">
              <a:solidFill>
                <a:schemeClr val="lt1"/>
              </a:solidFill>
            </a:endParaRPr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Besoin d'un système automatisé fiable</a:t>
            </a:r>
            <a:endParaRPr sz="2100">
              <a:solidFill>
                <a:schemeClr val="lt1"/>
              </a:solidFill>
            </a:endParaRPr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Objectif : Classifier ham vs spam</a:t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ient_bg.jpg" id="222" name="Google Shape;22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9"/>
          <p:cNvSpPr txBox="1"/>
          <p:nvPr/>
        </p:nvSpPr>
        <p:spPr>
          <a:xfrm>
            <a:off x="480180" y="274320"/>
            <a:ext cx="823165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Données &amp; Préprocessing</a:t>
            </a:r>
            <a:endParaRPr sz="1100"/>
          </a:p>
        </p:txBody>
      </p:sp>
      <p:sp>
        <p:nvSpPr>
          <p:cNvPr id="224" name="Google Shape;224;p39"/>
          <p:cNvSpPr txBox="1"/>
          <p:nvPr/>
        </p:nvSpPr>
        <p:spPr>
          <a:xfrm>
            <a:off x="480180" y="1371600"/>
            <a:ext cx="8231700" cy="15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- 5572 SMS labellisés ham/spam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 différencié LSTM / BERT (classique vs contextuel)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Tokenization : Keras (LSTM) &amp; BERT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Split : 80% train / 20% test</a:t>
            </a:r>
            <a:endParaRPr sz="1100"/>
          </a:p>
        </p:txBody>
      </p:sp>
      <p:pic>
        <p:nvPicPr>
          <p:cNvPr descr="AT&amp;T.jfif" id="225" name="Google Shape;22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91" y="4251960"/>
            <a:ext cx="960120" cy="52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.jfif" id="226" name="Google Shape;226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0301" y="105410"/>
            <a:ext cx="891540" cy="89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ient_bg.jpg" id="231" name="Google Shape;23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0"/>
          <p:cNvSpPr txBox="1"/>
          <p:nvPr/>
        </p:nvSpPr>
        <p:spPr>
          <a:xfrm>
            <a:off x="480180" y="274320"/>
            <a:ext cx="823165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LSTM – Résumé</a:t>
            </a:r>
            <a:endParaRPr sz="1100"/>
          </a:p>
        </p:txBody>
      </p:sp>
      <p:sp>
        <p:nvSpPr>
          <p:cNvPr id="233" name="Google Shape;233;p40"/>
          <p:cNvSpPr txBox="1"/>
          <p:nvPr/>
        </p:nvSpPr>
        <p:spPr>
          <a:xfrm>
            <a:off x="480180" y="1371600"/>
            <a:ext cx="8231659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Embedding + BiLSTM + Dense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Accuracy ≈ 98%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AUC ≈ 0.99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Très bon point de départ</a:t>
            </a:r>
            <a:endParaRPr sz="1100"/>
          </a:p>
        </p:txBody>
      </p:sp>
      <p:pic>
        <p:nvPicPr>
          <p:cNvPr descr="AT&amp;T.jfif" id="234" name="Google Shape;23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91" y="4251960"/>
            <a:ext cx="960120" cy="52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.jfif" id="235" name="Google Shape;23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0301" y="105410"/>
            <a:ext cx="891540" cy="89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ient_bg.jpg" id="240" name="Google Shape;24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1"/>
          <p:cNvSpPr txBox="1"/>
          <p:nvPr/>
        </p:nvSpPr>
        <p:spPr>
          <a:xfrm>
            <a:off x="480180" y="274320"/>
            <a:ext cx="823165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Matrice de confusion – LSTM</a:t>
            </a:r>
            <a:endParaRPr sz="1100"/>
          </a:p>
        </p:txBody>
      </p:sp>
      <p:sp>
        <p:nvSpPr>
          <p:cNvPr id="242" name="Google Shape;242;p41"/>
          <p:cNvSpPr txBox="1"/>
          <p:nvPr/>
        </p:nvSpPr>
        <p:spPr>
          <a:xfrm>
            <a:off x="480180" y="1371600"/>
            <a:ext cx="8231659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Erreurs limitées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Bon équilibre ham/spam</a:t>
            </a:r>
            <a:endParaRPr sz="1100"/>
          </a:p>
        </p:txBody>
      </p:sp>
      <p:pic>
        <p:nvPicPr>
          <p:cNvPr descr="cm_lstm.png" id="243" name="Google Shape;24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4787" y="1371600"/>
            <a:ext cx="3429000" cy="3234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T&amp;T.jfif" id="244" name="Google Shape;244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91" y="4251960"/>
            <a:ext cx="960120" cy="52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.jfif" id="245" name="Google Shape;245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20301" y="105410"/>
            <a:ext cx="891540" cy="89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ient_bg.jpg" id="250" name="Google Shape;25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2"/>
          <p:cNvSpPr txBox="1"/>
          <p:nvPr/>
        </p:nvSpPr>
        <p:spPr>
          <a:xfrm>
            <a:off x="480180" y="274320"/>
            <a:ext cx="823165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Courbe ROC – LSTM</a:t>
            </a:r>
            <a:endParaRPr sz="1100"/>
          </a:p>
        </p:txBody>
      </p:sp>
      <p:sp>
        <p:nvSpPr>
          <p:cNvPr id="252" name="Google Shape;252;p42"/>
          <p:cNvSpPr txBox="1"/>
          <p:nvPr/>
        </p:nvSpPr>
        <p:spPr>
          <a:xfrm>
            <a:off x="480180" y="1371600"/>
            <a:ext cx="8231659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AUC LSTM = 0.9820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Bonne séparation des classes</a:t>
            </a:r>
            <a:endParaRPr sz="1100"/>
          </a:p>
        </p:txBody>
      </p:sp>
      <p:pic>
        <p:nvPicPr>
          <p:cNvPr descr="roc_lstm.png" id="253" name="Google Shape;25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4787" y="1371600"/>
            <a:ext cx="3429000" cy="306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.jfif" id="254" name="Google Shape;25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0301" y="105410"/>
            <a:ext cx="891540" cy="891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T&amp;T.jfif" id="255" name="Google Shape;25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1066" y="4366660"/>
            <a:ext cx="960120" cy="52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ient_bg.jpg" id="260" name="Google Shape;26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3"/>
          <p:cNvSpPr txBox="1"/>
          <p:nvPr/>
        </p:nvSpPr>
        <p:spPr>
          <a:xfrm>
            <a:off x="480180" y="274320"/>
            <a:ext cx="823165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DistilBERT – Fine-tuning</a:t>
            </a:r>
            <a:endParaRPr sz="1100"/>
          </a:p>
        </p:txBody>
      </p:sp>
      <p:pic>
        <p:nvPicPr>
          <p:cNvPr descr="AT&amp;T.jfif" id="262" name="Google Shape;26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91" y="4251960"/>
            <a:ext cx="960120" cy="52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.jfif" id="263" name="Google Shape;263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0301" y="105410"/>
            <a:ext cx="891540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3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b="1" i="1" lang="fr" sz="2100">
                <a:solidFill>
                  <a:schemeClr val="lt1"/>
                </a:solidFill>
              </a:rPr>
              <a:t>- Modèle Transformer pré-entraîné</a:t>
            </a:r>
            <a:endParaRPr b="1" i="1" sz="2100">
              <a:solidFill>
                <a:schemeClr val="lt1"/>
              </a:solidFill>
            </a:endParaRPr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b="1" i="1" lang="fr" sz="2100">
                <a:solidFill>
                  <a:schemeClr val="lt1"/>
                </a:solidFill>
              </a:rPr>
              <a:t>- Forte compréhension du langage</a:t>
            </a:r>
            <a:endParaRPr b="1" i="1" sz="2100">
              <a:solidFill>
                <a:schemeClr val="lt1"/>
              </a:solidFill>
            </a:endParaRPr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b="1" i="1" lang="fr" sz="2100">
                <a:solidFill>
                  <a:schemeClr val="lt1"/>
                </a:solidFill>
              </a:rPr>
              <a:t>- Optimizer : AdamW</a:t>
            </a:r>
            <a:endParaRPr b="1" i="1" sz="2100">
              <a:solidFill>
                <a:schemeClr val="lt1"/>
              </a:solidFill>
            </a:endParaRPr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b="1" i="1" lang="fr" sz="2100">
                <a:solidFill>
                  <a:schemeClr val="lt1"/>
                </a:solidFill>
              </a:rPr>
              <a:t>- EarlyStopping</a:t>
            </a:r>
            <a:endParaRPr b="1" i="1" sz="2100">
              <a:solidFill>
                <a:schemeClr val="lt1"/>
              </a:solidFill>
            </a:endParaRPr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b="1" i="1" lang="fr" sz="2100">
                <a:solidFill>
                  <a:schemeClr val="lt1"/>
                </a:solidFill>
              </a:rPr>
              <a:t>- Résultats supérieurs au LSTM</a:t>
            </a:r>
            <a:endParaRPr b="1" i="1" sz="2100">
              <a:solidFill>
                <a:schemeClr val="lt1"/>
              </a:solidFill>
            </a:endParaRPr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b="1" i="1" lang="fr" sz="2100">
                <a:solidFill>
                  <a:schemeClr val="lt1"/>
                </a:solidFill>
              </a:rPr>
              <a:t>Texte quasi brut pour préserver le contexte linguistique</a:t>
            </a:r>
            <a:endParaRPr b="1" i="1"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ient_bg.jpg" id="269" name="Google Shape;26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44"/>
          <p:cNvSpPr txBox="1"/>
          <p:nvPr/>
        </p:nvSpPr>
        <p:spPr>
          <a:xfrm>
            <a:off x="480180" y="274320"/>
            <a:ext cx="823165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Matrice de confusion – DistilBERT</a:t>
            </a:r>
            <a:endParaRPr sz="1100"/>
          </a:p>
        </p:txBody>
      </p:sp>
      <p:sp>
        <p:nvSpPr>
          <p:cNvPr id="271" name="Google Shape;271;p44"/>
          <p:cNvSpPr txBox="1"/>
          <p:nvPr/>
        </p:nvSpPr>
        <p:spPr>
          <a:xfrm>
            <a:off x="480180" y="1371600"/>
            <a:ext cx="8231659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Très peu d'erreurs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- 3 faux positifs, 10 faux négatifs</a:t>
            </a:r>
            <a:endParaRPr sz="1100"/>
          </a:p>
        </p:txBody>
      </p:sp>
      <p:pic>
        <p:nvPicPr>
          <p:cNvPr descr="cm_distilbert.png" id="272" name="Google Shape;27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4787" y="1371600"/>
            <a:ext cx="3429000" cy="3234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T&amp;T.jfif" id="273" name="Google Shape;273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91" y="4251960"/>
            <a:ext cx="960120" cy="52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.jfif" id="274" name="Google Shape;274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20301" y="105410"/>
            <a:ext cx="891540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4"/>
          <p:cNvSpPr txBox="1"/>
          <p:nvPr>
            <p:ph idx="4294967295" type="body"/>
          </p:nvPr>
        </p:nvSpPr>
        <p:spPr>
          <a:xfrm>
            <a:off x="457200" y="2364725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Accuracy : 99%</a:t>
            </a:r>
            <a:endParaRPr sz="1800"/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AUC : 0.999</a:t>
            </a:r>
            <a:endParaRPr sz="1800"/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Meilleur modèle pour AT&amp;T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ient_bg.jpg" id="280" name="Google Shape;28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5"/>
          <p:cNvSpPr txBox="1"/>
          <p:nvPr/>
        </p:nvSpPr>
        <p:spPr>
          <a:xfrm>
            <a:off x="480180" y="274320"/>
            <a:ext cx="823165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Courbe ROC – DistilBERT</a:t>
            </a:r>
            <a:endParaRPr sz="1100"/>
          </a:p>
        </p:txBody>
      </p:sp>
      <p:sp>
        <p:nvSpPr>
          <p:cNvPr id="282" name="Google Shape;282;p45"/>
          <p:cNvSpPr txBox="1"/>
          <p:nvPr/>
        </p:nvSpPr>
        <p:spPr>
          <a:xfrm>
            <a:off x="480180" y="1371600"/>
            <a:ext cx="8231659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AUC proche de 1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Séparation quasi-parfaite ham/spam</a:t>
            </a:r>
            <a:endParaRPr sz="1100"/>
          </a:p>
        </p:txBody>
      </p:sp>
      <p:pic>
        <p:nvPicPr>
          <p:cNvPr descr="roc_distilbert.png" id="283" name="Google Shape;28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4787" y="1371600"/>
            <a:ext cx="3429000" cy="3064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T&amp;T.jfif" id="284" name="Google Shape;284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91" y="4251960"/>
            <a:ext cx="960120" cy="52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.jfif" id="285" name="Google Shape;285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20301" y="105410"/>
            <a:ext cx="891540" cy="891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ient_bg.jpg" id="290" name="Google Shape;29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171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5A9E"/>
              </a:buClr>
              <a:buSzPts val="4000"/>
              <a:buFont typeface="Calibri"/>
              <a:buNone/>
            </a:pPr>
            <a:r>
              <a:rPr b="1" lang="fr" sz="4000">
                <a:solidFill>
                  <a:schemeClr val="lt1"/>
                </a:solidFill>
              </a:rPr>
              <a:t>Comparaison LSTM vs BERT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2" name="Google Shape;292;p4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b="1" i="1" lang="fr" sz="2100">
                <a:solidFill>
                  <a:schemeClr val="lt1"/>
                </a:solidFill>
              </a:rPr>
              <a:t>LSTM : léger, rapide, baseline efficace</a:t>
            </a:r>
            <a:endParaRPr b="1" i="1" sz="2100">
              <a:solidFill>
                <a:schemeClr val="lt1"/>
              </a:solidFill>
            </a:endParaRPr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b="1" i="1" lang="fr" sz="2100">
                <a:solidFill>
                  <a:schemeClr val="lt1"/>
                </a:solidFill>
              </a:rPr>
              <a:t>DistilBERT : excellente compréhension du contexte, meilleure performance</a:t>
            </a:r>
            <a:endParaRPr b="1" i="1" sz="2100">
              <a:solidFill>
                <a:schemeClr val="lt1"/>
              </a:solidFill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i="1" sz="2100">
              <a:solidFill>
                <a:schemeClr val="lt1"/>
              </a:solidFill>
            </a:endParaRPr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b="1" i="1" lang="fr" sz="2100">
                <a:solidFill>
                  <a:schemeClr val="lt1"/>
                </a:solidFill>
              </a:rPr>
              <a:t>Recommandation : BERT pour la qualité</a:t>
            </a:r>
            <a:endParaRPr b="1" i="1" sz="2100">
              <a:solidFill>
                <a:schemeClr val="lt1"/>
              </a:solidFill>
            </a:endParaRPr>
          </a:p>
        </p:txBody>
      </p:sp>
      <p:pic>
        <p:nvPicPr>
          <p:cNvPr descr="téléchargement.jfif" id="293" name="Google Shape;29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20301" y="105410"/>
            <a:ext cx="891540" cy="891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T&amp;T.jfif" id="294" name="Google Shape;294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91" y="4251960"/>
            <a:ext cx="960120" cy="52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dient_bg.jpg" id="299" name="Google Shape;29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171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7"/>
          <p:cNvSpPr txBox="1"/>
          <p:nvPr/>
        </p:nvSpPr>
        <p:spPr>
          <a:xfrm>
            <a:off x="480180" y="274320"/>
            <a:ext cx="823165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Recommandations AT&amp;T</a:t>
            </a:r>
            <a:endParaRPr sz="1100"/>
          </a:p>
        </p:txBody>
      </p:sp>
      <p:pic>
        <p:nvPicPr>
          <p:cNvPr descr="AT&amp;T.jfif" id="301" name="Google Shape;30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91" y="4251960"/>
            <a:ext cx="960120" cy="526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éléchargement.jfif" id="302" name="Google Shape;30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20301" y="105410"/>
            <a:ext cx="891540" cy="89154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7"/>
          <p:cNvSpPr txBox="1"/>
          <p:nvPr>
            <p:ph idx="4294967295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b="1" i="1" lang="fr" sz="2100">
                <a:solidFill>
                  <a:schemeClr val="lt1"/>
                </a:solidFill>
              </a:rPr>
              <a:t>- Déploiement en A/B test</a:t>
            </a:r>
            <a:endParaRPr b="1" i="1" sz="2100">
              <a:solidFill>
                <a:schemeClr val="lt1"/>
              </a:solidFill>
            </a:endParaRPr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b="1" i="1" lang="fr" sz="2100">
                <a:solidFill>
                  <a:schemeClr val="lt1"/>
                </a:solidFill>
              </a:rPr>
              <a:t>- Ajuster le seuil de décision</a:t>
            </a:r>
            <a:endParaRPr b="1" i="1" sz="2100">
              <a:solidFill>
                <a:schemeClr val="lt1"/>
              </a:solidFill>
            </a:endParaRPr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b="1" i="1" lang="fr" sz="2100">
                <a:solidFill>
                  <a:schemeClr val="lt1"/>
                </a:solidFill>
              </a:rPr>
              <a:t>- Réentraînement régulier</a:t>
            </a:r>
            <a:endParaRPr b="1" i="1" sz="2100">
              <a:solidFill>
                <a:schemeClr val="lt1"/>
              </a:solidFill>
            </a:endParaRPr>
          </a:p>
          <a:p>
            <a:pPr indent="-27305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b="1" i="1" lang="fr" sz="2100">
                <a:solidFill>
                  <a:schemeClr val="lt1"/>
                </a:solidFill>
              </a:rPr>
              <a:t>- Possibilité d'architecture hybride (LSTM + BERT)</a:t>
            </a:r>
            <a:endParaRPr b="1" i="1"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